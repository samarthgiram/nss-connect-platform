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5"/>
  </p:notesMasterIdLst>
  <p:sldIdLst>
    <p:sldId id="256" r:id="rId2"/>
    <p:sldId id="258" r:id="rId3"/>
    <p:sldId id="279" r:id="rId4"/>
    <p:sldId id="280" r:id="rId5"/>
    <p:sldId id="282" r:id="rId6"/>
    <p:sldId id="281" r:id="rId7"/>
    <p:sldId id="293" r:id="rId8"/>
    <p:sldId id="297" r:id="rId9"/>
    <p:sldId id="298" r:id="rId10"/>
    <p:sldId id="302" r:id="rId11"/>
    <p:sldId id="285" r:id="rId12"/>
    <p:sldId id="284" r:id="rId13"/>
    <p:sldId id="283" r:id="rId14"/>
  </p:sldIdLst>
  <p:sldSz cx="9144000" cy="5143500" type="screen16x9"/>
  <p:notesSz cx="6858000" cy="9144000"/>
  <p:embeddedFontLst>
    <p:embeddedFont>
      <p:font typeface="Franklin Gothic Book" panose="020B0503020102020204" pitchFamily="34" charset="0"/>
      <p:regular r:id="rId26"/>
      <p:italic r:id="rId27"/>
    </p:embeddedFont>
    <p:embeddedFont>
      <p:font typeface="Nunito" pitchFamily="2" charset="0"/>
      <p:regular r:id="rId28"/>
      <p:bold r:id="rId29"/>
      <p:italic r:id="rId30"/>
      <p:boldItalic r:id="rId31"/>
    </p:embeddedFont>
    <p:embeddedFont>
      <p:font typeface="Perpetua" panose="02020502060401020303" pitchFamily="18" charset="0"/>
      <p:regular r:id="rId32"/>
      <p:bold r:id="rId33"/>
      <p:italic r:id="rId34"/>
      <p:boldItalic r:id="rId35"/>
    </p:embeddedFont>
    <p:embeddedFont>
      <p:font typeface="Wingdings 2" panose="05020102010507070707" pitchFamily="18" charset="2"/>
      <p:regular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4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98" y="77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font" Target="fonts/font1.fntdata"/><Relationship Id="rId27" Type="http://schemas.openxmlformats.org/officeDocument/2006/relationships/font" Target="fonts/font2.fntdata"/><Relationship Id="rId28" Type="http://schemas.openxmlformats.org/officeDocument/2006/relationships/font" Target="fonts/font3.fntdata"/><Relationship Id="rId29" Type="http://schemas.openxmlformats.org/officeDocument/2006/relationships/font" Target="fonts/font4.fntdata"/><Relationship Id="rId30" Type="http://schemas.openxmlformats.org/officeDocument/2006/relationships/font" Target="fonts/font5.fntdata"/><Relationship Id="rId31" Type="http://schemas.openxmlformats.org/officeDocument/2006/relationships/font" Target="fonts/font6.fntdata"/><Relationship Id="rId32" Type="http://schemas.openxmlformats.org/officeDocument/2006/relationships/font" Target="fonts/font7.fntdata"/><Relationship Id="rId33" Type="http://schemas.openxmlformats.org/officeDocument/2006/relationships/font" Target="fonts/font8.fntdata"/><Relationship Id="rId34" Type="http://schemas.openxmlformats.org/officeDocument/2006/relationships/font" Target="fonts/font9.fntdata"/><Relationship Id="rId35" Type="http://schemas.openxmlformats.org/officeDocument/2006/relationships/font" Target="fonts/font10.fntdata"/><Relationship Id="rId36" Type="http://schemas.openxmlformats.org/officeDocument/2006/relationships/font" Target="fonts/font11.fntdata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3567312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6c5397b13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6c5397b13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37065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6c5397b13c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6c5397b13c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63881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071781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52317"/>
            <a:ext cx="9013372" cy="501915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2400300"/>
            <a:ext cx="6400800" cy="120015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62932" y="1086978"/>
            <a:ext cx="9021537" cy="114551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2" y="1047540"/>
            <a:ext cx="9021537" cy="90435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2" y="2232487"/>
            <a:ext cx="9021537" cy="82899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129448"/>
            <a:ext cx="8229600" cy="1102519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085850"/>
            <a:ext cx="7772400" cy="3429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52317"/>
            <a:ext cx="9013372" cy="501915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714376"/>
            <a:ext cx="7772400" cy="1021556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1910953"/>
            <a:ext cx="7772400" cy="1003697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4629150"/>
            <a:ext cx="4000500" cy="34290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 flipV="1">
            <a:off x="69413" y="1782623"/>
            <a:ext cx="9013515" cy="6858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7" y="1756107"/>
            <a:ext cx="9013781" cy="3428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7" y="1851660"/>
            <a:ext cx="9014621" cy="3429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4656582"/>
            <a:ext cx="457200" cy="3429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085850"/>
            <a:ext cx="3749040" cy="3429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085850"/>
            <a:ext cx="3749040" cy="3429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04788"/>
            <a:ext cx="7772400" cy="85725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085850"/>
            <a:ext cx="3733800" cy="5715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085850"/>
            <a:ext cx="3733800" cy="5715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1685925"/>
            <a:ext cx="3733800" cy="291465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1685925"/>
            <a:ext cx="3733800" cy="291465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52316"/>
            <a:ext cx="9013372" cy="5020056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04788"/>
            <a:ext cx="7772400" cy="85725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200150"/>
            <a:ext cx="1905000" cy="337185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200150"/>
            <a:ext cx="5715000" cy="337185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675413"/>
            <a:ext cx="7315200" cy="391716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84369"/>
            <a:ext cx="7315200" cy="51435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4629150"/>
            <a:ext cx="3886200" cy="34290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4656582"/>
            <a:ext cx="457200" cy="3429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  <p:sp>
        <p:nvSpPr>
          <p:cNvPr id="11" name="Rectangle 10"/>
          <p:cNvSpPr/>
          <p:nvPr/>
        </p:nvSpPr>
        <p:spPr>
          <a:xfrm flipV="1">
            <a:off x="68307" y="3512666"/>
            <a:ext cx="9006840" cy="6858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9" y="3487856"/>
            <a:ext cx="9006639" cy="3428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1" y="3579919"/>
            <a:ext cx="9006637" cy="3660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9" y="50007"/>
            <a:ext cx="9001873" cy="3436144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1"/>
            <a:ext cx="2011680" cy="4388644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05980"/>
            <a:ext cx="5562600" cy="438864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52316"/>
            <a:ext cx="9013372" cy="5020056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05979"/>
            <a:ext cx="7772400" cy="85725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085850"/>
            <a:ext cx="7772400" cy="3429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4643437"/>
            <a:ext cx="2476500" cy="357188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fld id="{564CF2E0-CCC4-4E1E-9902-C3C36AB3FDA4}" type="datetimeFigureOut">
              <a:rPr lang="en-US" smtClean="0"/>
              <a:pPr algn="r" eaLnBrk="1" latinLnBrk="0" hangingPunct="1"/>
              <a:t>6/25/2026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4629150"/>
            <a:ext cx="3962400" cy="3429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4657725"/>
            <a:ext cx="457200" cy="3429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eg"/><Relationship Id="rId3" Type="http://schemas.openxmlformats.org/officeDocument/2006/relationships/image" Target="../media/image7.jpeg"/><Relationship Id="rId4" Type="http://schemas.openxmlformats.org/officeDocument/2006/relationships/image" Target="../media/image8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3"/>
          <p:cNvSpPr txBox="1">
            <a:spLocks noGrp="1"/>
          </p:cNvSpPr>
          <p:nvPr>
            <p:ph type="subTitle" idx="1"/>
          </p:nvPr>
        </p:nvSpPr>
        <p:spPr>
          <a:xfrm>
            <a:off x="1704700" y="23104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/>
            <a:r>
              <a:rPr lang="en-GB" sz="2000" dirty="0"/>
              <a:t>Under Guidance of </a:t>
            </a:r>
            <a:r>
              <a:rPr lang="en-GB" sz="2000" dirty="0">
                <a:solidFill>
                  <a:schemeClr val="tx1"/>
                </a:solidFill>
              </a:rPr>
              <a:t>Prof. </a:t>
            </a:r>
            <a:endParaRPr sz="2000" dirty="0">
              <a:solidFill>
                <a:schemeClr val="tx1"/>
              </a:solidFill>
            </a:endParaRPr>
          </a:p>
        </p:txBody>
      </p:sp>
      <p:sp>
        <p:nvSpPr>
          <p:cNvPr id="132" name="Google Shape;132;p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latin typeface="Nunito"/>
                <a:ea typeface="Nunito"/>
                <a:cs typeface="Nunito"/>
                <a:sym typeface="Nunito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8" name="Google Shape;128;p13"/>
          <p:cNvSpPr txBox="1">
            <a:spLocks noGrp="1"/>
          </p:cNvSpPr>
          <p:nvPr>
            <p:ph type="ctrTitle"/>
          </p:nvPr>
        </p:nvSpPr>
        <p:spPr>
          <a:xfrm>
            <a:off x="80348" y="973252"/>
            <a:ext cx="9005853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defRPr b="1" sz="2800">
                <a:latin typeface="Calibri"/>
              </a:defRPr>
            </a:pPr>
            <a:r>
              <a:t>A Project on "NSS Connect Platform: Digitalizing Community Service &amp; Volunteer Management"</a:t>
            </a:r>
            <a:endParaRPr dirty="0"/>
          </a:p>
        </p:txBody>
      </p:sp>
      <p:pic>
        <p:nvPicPr>
          <p:cNvPr id="131" name="Google Shape;13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760" y="219774"/>
            <a:ext cx="895815" cy="60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3"/>
          <p:cNvSpPr txBox="1"/>
          <p:nvPr/>
        </p:nvSpPr>
        <p:spPr>
          <a:xfrm>
            <a:off x="238525" y="4624425"/>
            <a:ext cx="8689500" cy="214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NBN </a:t>
            </a:r>
            <a:r>
              <a:rPr lang="en-GB" sz="900" b="1" dirty="0" err="1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Sinhgad</a:t>
            </a:r>
            <a:r>
              <a:rPr lang="en-GB" sz="900" b="1" dirty="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 School of Engineering</a:t>
            </a:r>
            <a:endParaRPr sz="900" b="1" dirty="0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2025-2026 Sem VIII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1" dirty="0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3"/>
          <p:cNvSpPr txBox="1"/>
          <p:nvPr/>
        </p:nvSpPr>
        <p:spPr>
          <a:xfrm>
            <a:off x="238525" y="4679325"/>
            <a:ext cx="162030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453508" y="2776092"/>
            <a:ext cx="16257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Manisha P.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Navale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"/>
          <p:cNvSpPr txBox="1">
            <a:spLocks noGrp="1"/>
          </p:cNvSpPr>
          <p:nvPr>
            <p:ph type="title"/>
          </p:nvPr>
        </p:nvSpPr>
        <p:spPr>
          <a:xfrm>
            <a:off x="680425" y="371725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Google Shape;152;p1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latin typeface="Nunito"/>
                <a:ea typeface="Nunito"/>
                <a:cs typeface="Nunito"/>
                <a:sym typeface="Nunito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51" name="Google Shape;15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760" y="219774"/>
            <a:ext cx="895815" cy="60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5"/>
          <p:cNvSpPr txBox="1"/>
          <p:nvPr/>
        </p:nvSpPr>
        <p:spPr>
          <a:xfrm>
            <a:off x="227250" y="4582525"/>
            <a:ext cx="8689500" cy="3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NBN </a:t>
            </a:r>
            <a:r>
              <a:rPr lang="en-GB" sz="900" b="1" dirty="0" err="1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Sinhgad</a:t>
            </a:r>
            <a:r>
              <a:rPr lang="en-GB" sz="900" b="1" dirty="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 School of Engineering</a:t>
            </a:r>
            <a:endParaRPr sz="900" b="1" dirty="0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2025-2026 Sem VIII</a:t>
            </a:r>
            <a:endParaRPr sz="900" b="1" dirty="0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 txBox="1"/>
          <p:nvPr/>
        </p:nvSpPr>
        <p:spPr>
          <a:xfrm>
            <a:off x="238525" y="4679325"/>
            <a:ext cx="162030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Group 20</a:t>
            </a:r>
            <a:endParaRPr sz="1200" b="1" dirty="0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FA622B-5108-0291-1E5B-7B4A5FF7E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522" y="1694696"/>
            <a:ext cx="7505700" cy="2448000"/>
          </a:xfrm>
        </p:spPr>
        <p:txBody>
          <a:bodyPr/>
          <a:lstStyle/>
          <a:p>
            <a:pPr marL="66040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Abhijeet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Indrjeet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Bhosle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6040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Aniket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Vijay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Chandan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6040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Pratham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Prashant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Dhakate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6040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Rajendra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Narendra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Patil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A762A-751C-FE1A-ED0E-78E9BDEB3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92" y="200025"/>
            <a:ext cx="7772400" cy="857250"/>
          </a:xfrm>
        </p:spPr>
        <p:txBody>
          <a:bodyPr>
            <a:normAutofit/>
          </a:bodyPr>
          <a:lstStyle/>
          <a:p>
            <a:r>
              <a:t>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2948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alibri"/>
              </a:defRPr>
            </a:pPr>
            <a:r>
              <a:t>1. INTRODUCTION &amp; SCOPE – Overview of the NSS portal objectives and core concept.</a:t>
            </a:r>
          </a:p>
          <a:p>
            <a:pPr>
              <a:defRPr sz="1200">
                <a:latin typeface="Calibri"/>
              </a:defRPr>
            </a:pPr>
            <a:r>
              <a:t>2. PROBLEM STATEMENT – Inefficiencies in paper-based operations and verification delays.</a:t>
            </a:r>
          </a:p>
          <a:p>
            <a:pPr>
              <a:defRPr sz="1200">
                <a:latin typeface="Calibri"/>
              </a:defRPr>
            </a:pPr>
            <a:r>
              <a:t>3. THE SOLUTION: NSS CONNECT – Centralized, secure, and role-based web workspaces.</a:t>
            </a:r>
          </a:p>
          <a:p>
            <a:pPr>
              <a:defRPr sz="1200">
                <a:latin typeface="Calibri"/>
              </a:defRPr>
            </a:pPr>
            <a:r>
              <a:t>4. STUDENT &amp; VOLUNTEER PORTAL – Tracking progress, event signups, and live announcements.</a:t>
            </a:r>
          </a:p>
          <a:p>
            <a:pPr>
              <a:defRPr sz="1200">
                <a:latin typeface="Calibri"/>
              </a:defRPr>
            </a:pPr>
            <a:r>
              <a:t>5. COORDINATOR (PROFESSOR) DASHBOARD – Approval engines, schedulers, and report utilities.</a:t>
            </a:r>
          </a:p>
          <a:p>
            <a:pPr>
              <a:defRPr sz="1200">
                <a:latin typeface="Calibri"/>
              </a:defRPr>
            </a:pPr>
            <a:r>
              <a:t>6. SYSTEM ARCHITECTURE – Separation of concerns, API routes, and database client layers.</a:t>
            </a:r>
          </a:p>
          <a:p>
            <a:pPr>
              <a:defRPr sz="1200">
                <a:latin typeface="Calibri"/>
              </a:defRPr>
            </a:pPr>
            <a:r>
              <a:t>7. FRONT-END DESIGN HIGHLIGHTS – Premium sliding headers, rotating orbits, and SVG assets.</a:t>
            </a:r>
          </a:p>
          <a:p>
            <a:pPr>
              <a:defRPr sz="1200">
                <a:latin typeface="Calibri"/>
              </a:defRPr>
            </a:pPr>
            <a:r>
              <a:t>8. TECHNOLOGY STACK – Frontend modules, backend configuration, and database security.</a:t>
            </a:r>
          </a:p>
          <a:p>
            <a:pPr>
              <a:defRPr sz="1200">
                <a:latin typeface="Calibri"/>
              </a:defRPr>
            </a:pPr>
            <a:r>
              <a:t>9. IMPACT &amp; FUTURE SCOPE – Location geofencing, native mobile apps, and gamified statistics.</a:t>
            </a:r>
          </a:p>
          <a:p>
            <a:pPr>
              <a:defRPr sz="1200">
                <a:latin typeface="Calibri"/>
              </a:defRPr>
            </a:pPr>
            <a:r>
              <a:t>10. CONCLUSION &amp; LESSONS LEARNED – Platform summary, motto integration, and future scaling.</a:t>
            </a:r>
          </a:p>
        </p:txBody>
      </p:sp>
    </p:spTree>
    <p:extLst>
      <p:ext uri="{BB962C8B-B14F-4D97-AF65-F5344CB8AC3E}">
        <p14:creationId xmlns:p14="http://schemas.microsoft.com/office/powerpoint/2010/main" val="289087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6E324-E1A7-5A71-DC40-0DC7850C0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791" y="114776"/>
            <a:ext cx="7772400" cy="1265276"/>
          </a:xfrm>
        </p:spPr>
        <p:txBody>
          <a:bodyPr>
            <a:normAutofit/>
          </a:bodyPr>
          <a:lstStyle/>
          <a:p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2948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Calibri"/>
              </a:defRPr>
            </a:pPr>
            <a:r>
              <a:t>Unified Digital Ecosystem – A secure web portal designed to seamlessly connect volunteers, professor-coordinators, and system administrators, digitizing all operational aspects of the National Service Scheme.</a:t>
            </a:r>
          </a:p>
          <a:p>
            <a:pPr>
              <a:defRPr sz="1300">
                <a:latin typeface="Calibri"/>
              </a:defRPr>
            </a:pPr>
            <a:r>
              <a:t>Core Project Objective – Automate the tedious manual log entries of volunteering hours, streamline camp scheduling/blood donation drives, and fast-track evaluation approvals.</a:t>
            </a:r>
          </a:p>
          <a:p>
            <a:pPr>
              <a:defRPr sz="1300">
                <a:latin typeface="Calibri"/>
              </a:defRPr>
            </a:pPr>
            <a:r>
              <a:t>Modern Visual Language – Designed with a focus on high-fidelity user experiences, incorporating fluid sliding navigations and interactive background orbits to maximize volunteer engagement.</a:t>
            </a:r>
          </a:p>
          <a:p>
            <a:pPr>
              <a:defRPr sz="1300">
                <a:latin typeface="Calibri"/>
              </a:defRPr>
            </a:pPr>
            <a:r>
              <a:t>Robust Technical Foundation – Built with a React.js single-page application framework (SPA), styled with Tailwind CSS, and fully backed by a real-time Supabase cloud database instance.</a:t>
            </a:r>
          </a:p>
        </p:txBody>
      </p:sp>
    </p:spTree>
    <p:extLst>
      <p:ext uri="{BB962C8B-B14F-4D97-AF65-F5344CB8AC3E}">
        <p14:creationId xmlns:p14="http://schemas.microsoft.com/office/powerpoint/2010/main" val="1450981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9F652-F187-7E11-88D0-ED28530C0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563" y="221241"/>
            <a:ext cx="7772400" cy="1127051"/>
          </a:xfrm>
        </p:spPr>
        <p:txBody>
          <a:bodyPr>
            <a:normAutofit fontScale="90000"/>
          </a:bodyPr>
          <a:lstStyle/>
          <a:p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2948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Calibri"/>
              </a:defRPr>
            </a:pPr>
            <a:r>
              <a:t>Manual Logging Inefficiencies – Traditional paper logs for tracking student volunteer hours are labor-intensive, slow, and highly prone to calculation errors and log disputes.</a:t>
            </a:r>
          </a:p>
          <a:p>
            <a:pPr>
              <a:defRPr sz="1300">
                <a:latin typeface="Calibri"/>
              </a:defRPr>
            </a:pPr>
            <a:r>
              <a:t>Communication Delays – Absence of an instant broadcast channel prevents coordinators from pushing urgent announcements (e.g., emergency blood requests or schedule changes) to students.</a:t>
            </a:r>
          </a:p>
          <a:p>
            <a:pPr>
              <a:defRPr sz="1300">
                <a:latin typeface="Calibri"/>
              </a:defRPr>
            </a:pPr>
            <a:r>
              <a:t>Verification Bottlenecks – Coordinators face administrative stress verifying attendance logs across multiple campuses, causing massive delays in issuing student certificates.</a:t>
            </a:r>
          </a:p>
          <a:p>
            <a:pPr>
              <a:defRPr sz="1300">
                <a:latin typeface="Calibri"/>
              </a:defRPr>
            </a:pPr>
            <a:r>
              <a:t>Lack of Real-Time Analytics – Higher administration lacks centralized dashboards to evaluate active campaigns, count aggregate volunteer contributions, or track engagement trends.</a:t>
            </a:r>
          </a:p>
        </p:txBody>
      </p:sp>
    </p:spTree>
    <p:extLst>
      <p:ext uri="{BB962C8B-B14F-4D97-AF65-F5344CB8AC3E}">
        <p14:creationId xmlns:p14="http://schemas.microsoft.com/office/powerpoint/2010/main" val="2824518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45DFA-9793-F6F6-BDBD-A600624D9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78426"/>
          </a:xfrm>
        </p:spPr>
        <p:txBody>
          <a:bodyPr>
            <a:noAutofit/>
          </a:bodyPr>
          <a:lstStyle/>
          <a:p>
            <a:r>
              <a:t>THE SOLUTION: NSS CONNECT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2948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latin typeface="Calibri"/>
              </a:defRPr>
            </a:pPr>
            <a:r>
              <a:t>Centralized Service Hub – Replaces fragmented physical workflows with a modern, secure, and collaborative cloud-hosted portal.</a:t>
            </a:r>
          </a:p>
          <a:p>
            <a:pPr>
              <a:defRPr sz="1250">
                <a:latin typeface="Calibri"/>
              </a:defRPr>
            </a:pPr>
            <a:r>
              <a:t>Role-Based Dashboards:</a:t>
            </a:r>
          </a:p>
          <a:p>
            <a:pPr>
              <a:defRPr sz="1250">
                <a:latin typeface="Calibri"/>
              </a:defRPr>
            </a:pPr>
            <a:r>
              <a:t>  • Student Workspace – Self-onboarding, real-time hour progress indicators, single-click activity signups, and immediate certificate generation.</a:t>
            </a:r>
          </a:p>
          <a:p>
            <a:pPr>
              <a:defRPr sz="1250">
                <a:latin typeface="Calibri"/>
              </a:defRPr>
            </a:pPr>
            <a:r>
              <a:t>  • Professor/Coordinator Dashboard – Manage student rosters, approve/reject hour logs with comments, generate reports, and schedules events.</a:t>
            </a:r>
          </a:p>
          <a:p>
            <a:pPr>
              <a:defRPr sz="1250">
                <a:latin typeface="Calibri"/>
              </a:defRPr>
            </a:pPr>
            <a:r>
              <a:t>  • System Admin Console – Approve professor applications, configure university divisions, audit activity metrics, and manage databases.</a:t>
            </a:r>
          </a:p>
        </p:txBody>
      </p:sp>
    </p:spTree>
    <p:extLst>
      <p:ext uri="{BB962C8B-B14F-4D97-AF65-F5344CB8AC3E}">
        <p14:creationId xmlns:p14="http://schemas.microsoft.com/office/powerpoint/2010/main" val="685311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45DFA-9793-F6F6-BDBD-A600624D9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26381"/>
            <a:ext cx="7772400" cy="678426"/>
          </a:xfrm>
        </p:spPr>
        <p:txBody>
          <a:bodyPr>
            <a:noAutofit/>
          </a:bodyPr>
          <a:lstStyle/>
          <a:p>
            <a:r>
              <a:t>STUDENT &amp; VOLUNTEER PORTAL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2948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Calibri"/>
              </a:defRPr>
            </a:pPr>
            <a:r>
              <a:t>User-Centric Landing Hub – Displays a visual timeline of enrolled activities, active tasks, and upcoming camp details upon logging in.</a:t>
            </a:r>
          </a:p>
          <a:p>
            <a:pPr>
              <a:defRPr sz="1300">
                <a:latin typeface="Calibri"/>
              </a:defRPr>
            </a:pPr>
            <a:r>
              <a:t>Hour Tracker Progress Rings – Features dynamic visual progress components showing total verified hours and remaining targets toward the 120-hour certificate goal.</a:t>
            </a:r>
          </a:p>
          <a:p>
            <a:pPr>
              <a:defRPr sz="1300">
                <a:latin typeface="Calibri"/>
              </a:defRPr>
            </a:pPr>
            <a:r>
              <a:t>Campaign Registration – Students can browse open cleanup camps, health drives, or collection drives, and enroll instantly with automatic slot validation.</a:t>
            </a:r>
          </a:p>
          <a:p>
            <a:pPr>
              <a:defRPr sz="1300">
                <a:latin typeface="Calibri"/>
              </a:defRPr>
            </a:pPr>
            <a:r>
              <a:t>Live Announcement Banners – Integrates real-time Socket/Database listeners that display flash banners for critical notices, such as urgent local blood bank requests.</a:t>
            </a:r>
          </a:p>
        </p:txBody>
      </p:sp>
    </p:spTree>
    <p:extLst>
      <p:ext uri="{BB962C8B-B14F-4D97-AF65-F5344CB8AC3E}">
        <p14:creationId xmlns:p14="http://schemas.microsoft.com/office/powerpoint/2010/main" val="1576940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27C3B-ADB7-9FD5-C5BD-972B10DF5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45D9C-C254-2D42-A979-0839D962E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89031"/>
            <a:ext cx="7772400" cy="678426"/>
          </a:xfrm>
        </p:spPr>
        <p:txBody>
          <a:bodyPr>
            <a:noAutofit/>
          </a:bodyPr>
          <a:lstStyle/>
          <a:p>
            <a:r>
              <a:t>COORDINATOR (PROFESSOR)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2948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latin typeface="Calibri"/>
              </a:defRPr>
            </a:pPr>
            <a:r>
              <a:t>Batch Verification Engine – Allows coordinators to view, audit, and approve/reject volunteer hour claims submitted by students with descriptive feedback.</a:t>
            </a:r>
          </a:p>
          <a:p>
            <a:pPr>
              <a:defRPr sz="1250">
                <a:latin typeface="Calibri"/>
              </a:defRPr>
            </a:pPr>
            <a:r>
              <a:t>Campaign Scheduler – Create events by specifying dates, target domains (health, environment), student capacity limits, locations, and directions.</a:t>
            </a:r>
          </a:p>
          <a:p>
            <a:pPr>
              <a:defRPr sz="1250">
                <a:latin typeface="Calibri"/>
              </a:defRPr>
            </a:pPr>
            <a:r>
              <a:t>On-Field Attendance Register – Allows coordinators to mark student attendance live on-site (supports mobile check-ins), syncing data directly with backend logs.</a:t>
            </a:r>
          </a:p>
          <a:p>
            <a:pPr>
              <a:defRPr sz="1250">
                <a:latin typeface="Calibri"/>
              </a:defRPr>
            </a:pPr>
            <a:r>
              <a:t>Exportable Analytics Reports – Generates university-grade reports detailing volunteer achievements, total hours completed, and camp statistics in CSV/PDF formats.</a:t>
            </a:r>
          </a:p>
        </p:txBody>
      </p:sp>
    </p:spTree>
    <p:extLst>
      <p:ext uri="{BB962C8B-B14F-4D97-AF65-F5344CB8AC3E}">
        <p14:creationId xmlns:p14="http://schemas.microsoft.com/office/powerpoint/2010/main" val="907950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5B7A7-41AA-E0A7-29F7-FE3B0CDDD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58209-11BC-4EA7-1989-3C4B23316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89030"/>
            <a:ext cx="7772400" cy="678426"/>
          </a:xfrm>
        </p:spPr>
        <p:txBody>
          <a:bodyPr>
            <a:noAutofit/>
          </a:bodyPr>
          <a:lstStyle/>
          <a:p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2948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Calibri"/>
              </a:defRPr>
            </a:pPr>
            <a:r>
              <a:t>Separation of Concerns – Standard multi-tier model separating presentation logic, application server logic, and persistent storage layers.</a:t>
            </a:r>
          </a:p>
          <a:p>
            <a:pPr>
              <a:defRPr sz="1300">
                <a:latin typeface="Calibri"/>
              </a:defRPr>
            </a:pPr>
            <a:r>
              <a:t>Frontend Client Tier – React.js single-page app running on Vite, integrating state providers and secure HTTP router guards.</a:t>
            </a:r>
          </a:p>
          <a:p>
            <a:pPr>
              <a:defRPr sz="1300">
                <a:latin typeface="Calibri"/>
              </a:defRPr>
            </a:pPr>
            <a:r>
              <a:t>Backend Database Tier (Supabase) – Leverages Supabase Backend-as-a-Service for authentication, persistent storage (PostgreSQL), and real-time database subscription features.</a:t>
            </a:r>
          </a:p>
          <a:p>
            <a:pPr>
              <a:defRPr sz="1300">
                <a:latin typeface="Calibri"/>
              </a:defRPr>
            </a:pPr>
            <a:r>
              <a:t>Security Framework – Implements strict Row-Level Security (RLS) policies at the database layer to ensure students, coordinators, and admins can only modify authorized data rows.</a:t>
            </a:r>
          </a:p>
        </p:txBody>
      </p:sp>
    </p:spTree>
    <p:extLst>
      <p:ext uri="{BB962C8B-B14F-4D97-AF65-F5344CB8AC3E}">
        <p14:creationId xmlns:p14="http://schemas.microsoft.com/office/powerpoint/2010/main" val="2698021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F1D8E-00B6-80D4-A77D-41069B820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9F231-2228-C731-C9A4-FD1A19BE7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89030"/>
            <a:ext cx="7772400" cy="678426"/>
          </a:xfrm>
        </p:spPr>
        <p:txBody>
          <a:bodyPr>
            <a:noAutofit/>
          </a:bodyPr>
          <a:lstStyle/>
          <a:p>
            <a:r>
              <a:t>FRONT-END &amp; DESIGN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2948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Calibri"/>
              </a:defRPr>
            </a:pPr>
            <a:r>
              <a:t>Double-Rotation Background – Concentric orbit lines with rotating service badges. Clockwise container spins, while counter-clockwise badge spins keep labels upright.</a:t>
            </a:r>
          </a:p>
          <a:p>
            <a:pPr>
              <a:defRPr sz="1300">
                <a:latin typeface="Calibri"/>
              </a:defRPr>
            </a:pPr>
            <a:r>
              <a:t>Sliding Underline Navbar – Navigation link indicator highlights active pages with a smooth sliding micro-animation.</a:t>
            </a:r>
          </a:p>
          <a:p>
            <a:pPr>
              <a:defRPr sz="1300">
                <a:latin typeface="Calibri"/>
              </a:defRPr>
            </a:pPr>
            <a:r>
              <a:t>Mixed-Media Gallery – Horizontal marquee grid showing photos/videos with lightbox controls.</a:t>
            </a:r>
          </a:p>
          <a:p>
            <a:pPr>
              <a:defRPr sz="1300">
                <a:latin typeface="Calibri"/>
              </a:defRPr>
            </a:pPr>
            <a:r>
              <a:t>SVG Logo – Clean, vector-based, high-fidelity Konark chariot wheel.</a:t>
            </a:r>
          </a:p>
        </p:txBody>
      </p:sp>
    </p:spTree>
    <p:extLst>
      <p:ext uri="{BB962C8B-B14F-4D97-AF65-F5344CB8AC3E}">
        <p14:creationId xmlns:p14="http://schemas.microsoft.com/office/powerpoint/2010/main" val="1576048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F0718-D63E-4878-3A25-59B6F0773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-254511"/>
            <a:ext cx="7772400" cy="857250"/>
          </a:xfrm>
        </p:spPr>
        <p:txBody>
          <a:bodyPr>
            <a:normAutofit/>
          </a:bodyPr>
          <a:lstStyle/>
          <a:p>
            <a:r>
              <a:t>FUTURE SCOPE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2948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Calibri"/>
              </a:defRPr>
            </a:pPr>
            <a:r>
              <a:t>Native Mobile Application – Geolocation-enabled apps for Android and iOS, allowing coordinators to push nearby volunteer alerts during emergencies.</a:t>
            </a:r>
          </a:p>
          <a:p>
            <a:pPr>
              <a:defRPr sz="1300">
                <a:latin typeface="Calibri"/>
              </a:defRPr>
            </a:pPr>
            <a:r>
              <a:t>Geofenced GPS Check-ins – Automatic coordinate verification to ensure students are physically present at the volunteer camp site to log hours.</a:t>
            </a:r>
          </a:p>
          <a:p>
            <a:pPr>
              <a:defRPr sz="1300">
                <a:latin typeface="Calibri"/>
              </a:defRPr>
            </a:pPr>
            <a:r>
              <a:t>Gamified Achievements – Awarding digital badges and milestones for students completing extra community hours.</a:t>
            </a:r>
          </a:p>
          <a:p>
            <a:pPr>
              <a:defRPr sz="1300">
                <a:latin typeface="Calibri"/>
              </a:defRPr>
            </a:pPr>
            <a:r>
              <a:t>Inter-College Leaderboard – Visual ranking to encourage friendly service competitions.</a:t>
            </a:r>
          </a:p>
        </p:txBody>
      </p:sp>
    </p:spTree>
    <p:extLst>
      <p:ext uri="{BB962C8B-B14F-4D97-AF65-F5344CB8AC3E}">
        <p14:creationId xmlns:p14="http://schemas.microsoft.com/office/powerpoint/2010/main" val="12674341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04865-3D5D-6C40-4F5A-38EDE04F0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145" y="157634"/>
            <a:ext cx="7772400" cy="664420"/>
          </a:xfrm>
        </p:spPr>
        <p:txBody>
          <a:bodyPr>
            <a:normAutofit/>
          </a:bodyPr>
          <a:lstStyle/>
          <a:p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2948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Calibri"/>
              </a:defRPr>
            </a:pPr>
            <a:r>
              <a:t>Operational Efficiency – Significantly reduces the administrative workload on professor-coordinators by automating approvals and reports.</a:t>
            </a:r>
          </a:p>
          <a:p>
            <a:pPr>
              <a:defRPr sz="1300">
                <a:latin typeface="Calibri"/>
              </a:defRPr>
            </a:pPr>
            <a:r>
              <a:t>Enhanced Motivation – Increases student engagement through real-time feedback, visual trackers, and modern interface interactions.</a:t>
            </a:r>
          </a:p>
          <a:p>
            <a:pPr>
              <a:defRPr sz="1300">
                <a:latin typeface="Calibri"/>
              </a:defRPr>
            </a:pPr>
            <a:r>
              <a:t>Motto Alignment – Facilitates the core objective of the National Service Scheme ('Not Me But You') using digital collaboration.</a:t>
            </a:r>
          </a:p>
          <a:p>
            <a:pPr>
              <a:defRPr sz="1300">
                <a:latin typeface="Calibri"/>
              </a:defRPr>
            </a:pPr>
            <a:r>
              <a:t>Scalable Foundation – Designed with modular React components and scalable backend logic to support future feature expansions.</a:t>
            </a:r>
          </a:p>
        </p:txBody>
      </p:sp>
    </p:spTree>
    <p:extLst>
      <p:ext uri="{BB962C8B-B14F-4D97-AF65-F5344CB8AC3E}">
        <p14:creationId xmlns:p14="http://schemas.microsoft.com/office/powerpoint/2010/main" val="208354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D8D1C-0FAD-17AD-31A2-D910AA19A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470" y="-156117"/>
            <a:ext cx="7772400" cy="857250"/>
          </a:xfrm>
        </p:spPr>
        <p:txBody>
          <a:bodyPr>
            <a:normAutofit/>
          </a:bodyPr>
          <a:lstStyle/>
          <a:p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2948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alibri"/>
              </a:defRPr>
            </a:pPr>
            <a:r>
              <a:t>NBN Sinhgad School of Engineering</a:t>
            </a:r>
          </a:p>
          <a:p>
            <a:pPr>
              <a:defRPr sz="1400">
                <a:latin typeface="Calibri"/>
              </a:defRPr>
            </a:pPr>
            <a:r>
              <a:t>Academic Year: 2025-2026 (Sem VIII)</a:t>
            </a:r>
          </a:p>
          <a:p>
            <a:pPr>
              <a:defRPr sz="1400">
                <a:latin typeface="Calibri"/>
              </a:defRPr>
            </a:pPr>
            <a:r>
              <a:t>Project Group: Group 20</a:t>
            </a:r>
          </a:p>
          <a:p>
            <a:pPr>
              <a:defRPr sz="1400">
                <a:latin typeface="Calibri"/>
              </a:defRPr>
            </a:pPr>
            <a:r>
              <a:t>Under Guidance of: Prof. Manisha P. Navale</a:t>
            </a:r>
          </a:p>
        </p:txBody>
      </p:sp>
    </p:spTree>
    <p:extLst>
      <p:ext uri="{BB962C8B-B14F-4D97-AF65-F5344CB8AC3E}">
        <p14:creationId xmlns:p14="http://schemas.microsoft.com/office/powerpoint/2010/main" val="4190610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BD0E3-C132-2829-A081-4E3D7AEB6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2BA5B-62EC-EB63-047A-F491850D3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470" y="-156117"/>
            <a:ext cx="7772400" cy="857250"/>
          </a:xfrm>
        </p:spPr>
        <p:txBody>
          <a:bodyPr>
            <a:normAutofit/>
          </a:bodyPr>
          <a:lstStyle/>
          <a:p>
            <a:pPr algn="ctr"/>
            <a:r>
              <a:rPr lang="en-IN" sz="28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Key Features 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4EEE5-7E79-8ACC-72C1-18779F5E376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68712" y="1004105"/>
            <a:ext cx="8206576" cy="3652611"/>
          </a:xfrm>
        </p:spPr>
        <p:txBody>
          <a:bodyPr>
            <a:normAutofit fontScale="92500"/>
          </a:bodyPr>
          <a:lstStyle/>
          <a:p>
            <a:pPr algn="just">
              <a:lnSpc>
                <a:spcPct val="11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JWT-based login with role-based access. </a:t>
            </a:r>
          </a:p>
          <a:p>
            <a:pPr algn="just">
              <a:lnSpc>
                <a:spcPct val="11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Management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Create, join, and manage student project groups.</a:t>
            </a:r>
          </a:p>
          <a:p>
            <a:pPr algn="just">
              <a:lnSpc>
                <a:spcPct val="11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Proposal Submission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Submit and track project proposals online.</a:t>
            </a:r>
          </a:p>
          <a:p>
            <a:pPr algn="just">
              <a:lnSpc>
                <a:spcPct val="11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Topic Similarity Check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Detect similar project topics to reduce duplication.</a:t>
            </a:r>
            <a:endParaRPr lang="en-IN" sz="19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Guide Allocation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Assign guides based on expertise and workload.</a:t>
            </a:r>
          </a:p>
          <a:p>
            <a:pPr algn="just">
              <a:lnSpc>
                <a:spcPct val="11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&amp; Feedback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Guides can evaluate projects and provide feedback.</a:t>
            </a:r>
          </a:p>
          <a:p>
            <a:pPr algn="just">
              <a:lnSpc>
                <a:spcPct val="11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Notifications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Instant updates using Socket.IO .</a:t>
            </a:r>
          </a:p>
          <a:p>
            <a:pPr algn="just">
              <a:lnSpc>
                <a:spcPct val="11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Coordinator Dashboard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Monitor projects, guides, and overall progress.</a:t>
            </a:r>
            <a:endParaRPr lang="en-US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7473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50968-5F6C-FF68-492C-E3D52CA8B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590" y="-173163"/>
            <a:ext cx="7772400" cy="857250"/>
          </a:xfrm>
        </p:spPr>
        <p:txBody>
          <a:bodyPr>
            <a:normAutofit/>
          </a:bodyPr>
          <a:lstStyle/>
          <a:p>
            <a:pPr algn="ctr"/>
            <a:r>
              <a:rPr lang="en-IN" sz="28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AND RESULTS</a:t>
            </a:r>
            <a:endParaRPr lang="en-IN" sz="28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E08D772-A8C3-9D96-7846-4638E0A306D7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007657" y="2921173"/>
            <a:ext cx="3749675" cy="2097474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1113C28-B132-B96C-E90F-E5D66F62F494}"/>
              </a:ext>
            </a:extLst>
          </p:cNvPr>
          <p:cNvPicPr>
            <a:picLocks noGrp="1" noChangeAspect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07657" y="684087"/>
            <a:ext cx="3749675" cy="21062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4799997-5018-5AEF-AE43-288A06BAEF95}"/>
              </a:ext>
            </a:extLst>
          </p:cNvPr>
          <p:cNvSpPr txBox="1"/>
          <p:nvPr/>
        </p:nvSpPr>
        <p:spPr>
          <a:xfrm>
            <a:off x="386576" y="889440"/>
            <a:ext cx="3932664" cy="3893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algn="just"/>
            <a:endParaRPr lang="en-IN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MERN Stack (MongoDB, Express.js, React.js, Node.js) </a:t>
            </a:r>
          </a:p>
          <a:p>
            <a:pPr marL="285750" indent="-285750" algn="just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secure JWT Authentication </a:t>
            </a:r>
          </a:p>
          <a:p>
            <a:pPr marL="285750" indent="-285750" algn="just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dashboards for Students, Guides, and Coordinators </a:t>
            </a:r>
          </a:p>
          <a:p>
            <a:pPr marL="285750" indent="-285750" algn="just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Socket.IO for real-time notifications </a:t>
            </a:r>
          </a:p>
          <a:p>
            <a:pPr marL="285750" indent="-285750" algn="just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Topic Similarity Check for proposal validation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32C30B-F308-74CA-097B-3F007006B3D6}"/>
              </a:ext>
            </a:extLst>
          </p:cNvPr>
          <p:cNvSpPr/>
          <p:nvPr/>
        </p:nvSpPr>
        <p:spPr>
          <a:xfrm>
            <a:off x="4824761" y="587298"/>
            <a:ext cx="4096215" cy="44976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8406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6BA46F6-F388-4003-4076-A276979CAF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161" y="2968910"/>
            <a:ext cx="3749675" cy="172016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73752DC-024D-20AB-9A8E-5FF65707534B}"/>
              </a:ext>
            </a:extLst>
          </p:cNvPr>
          <p:cNvSpPr txBox="1"/>
          <p:nvPr/>
        </p:nvSpPr>
        <p:spPr>
          <a:xfrm>
            <a:off x="229917" y="610674"/>
            <a:ext cx="2751074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Dashboards:</a:t>
            </a:r>
          </a:p>
          <a:p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04E1CD-5C98-0B2D-B590-65D36FB5501F}"/>
              </a:ext>
            </a:extLst>
          </p:cNvPr>
          <p:cNvSpPr/>
          <p:nvPr/>
        </p:nvSpPr>
        <p:spPr>
          <a:xfrm>
            <a:off x="229917" y="1018478"/>
            <a:ext cx="8684164" cy="38211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E1D95A2-A3A6-BAAC-192B-2DDDAEBD7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590" y="-173163"/>
            <a:ext cx="7772400" cy="857250"/>
          </a:xfrm>
        </p:spPr>
        <p:txBody>
          <a:bodyPr>
            <a:normAutofit/>
          </a:bodyPr>
          <a:lstStyle/>
          <a:p>
            <a:pPr algn="ctr"/>
            <a:r>
              <a:rPr lang="en-IN" sz="28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AND RESULTS</a:t>
            </a:r>
            <a:endParaRPr lang="en-IN" sz="2800" dirty="0"/>
          </a:p>
        </p:txBody>
      </p:sp>
      <p:sp>
        <p:nvSpPr>
          <p:cNvPr id="14" name="TextBox 13"/>
          <p:cNvSpPr txBox="1"/>
          <p:nvPr/>
        </p:nvSpPr>
        <p:spPr>
          <a:xfrm>
            <a:off x="333996" y="1133613"/>
            <a:ext cx="3749675" cy="1720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latin typeface="Calibri"/>
              </a:defRPr>
            </a:pPr>
            <a:r>
              <a:t>Student &amp; Volunteer Dashboard:</a:t>
            </a:r>
          </a:p>
          <a:p>
            <a:pPr lvl="1">
              <a:defRPr sz="1200">
                <a:latin typeface="Calibri"/>
              </a:defRPr>
            </a:pPr>
            <a:r>
              <a:t>Group Management – Create student groups, invite peers, and manage project member status.</a:t>
            </a:r>
          </a:p>
          <a:p>
            <a:pPr lvl="1">
              <a:defRPr sz="1200">
                <a:latin typeface="Calibri"/>
              </a:defRPr>
            </a:pPr>
            <a:r>
              <a:t>Proposal Submission – Submit final year project proposals directly to the coordinator.</a:t>
            </a:r>
          </a:p>
          <a:p>
            <a:pPr lvl="1">
              <a:defRPr sz="1200">
                <a:latin typeface="Calibri"/>
              </a:defRPr>
            </a:pPr>
            <a:r>
              <a:t>Progress Tracking – View scheduled milestones, submit weekly status, and read supervisor comments.</a:t>
            </a:r>
          </a:p>
          <a:p>
            <a:pPr lvl="1">
              <a:defRPr sz="1200">
                <a:latin typeface="Calibri"/>
              </a:defRPr>
            </a:pPr>
            <a:r>
              <a:t>Digital Dashboard – Receive real-time announcements and download certified evaluation sheets.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60331" y="1142987"/>
            <a:ext cx="3749675" cy="1710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latin typeface="Calibri"/>
              </a:defRPr>
            </a:pPr>
            <a:r>
              <a:t>Guide &amp; Coordinator Dashboard:</a:t>
            </a:r>
          </a:p>
          <a:p>
            <a:pPr lvl="1">
              <a:defRPr sz="1200">
                <a:latin typeface="Calibri"/>
              </a:defRPr>
            </a:pPr>
            <a:r>
              <a:t>Proposal Appraisals – Coordinators review details and approve/reject project submissions.</a:t>
            </a:r>
          </a:p>
          <a:p>
            <a:pPr lvl="1">
              <a:defRPr sz="1200">
                <a:latin typeface="Calibri"/>
              </a:defRPr>
            </a:pPr>
            <a:r>
              <a:t>Milestone Evaluation – Guides score groups, post feedback reports, and review logs.</a:t>
            </a:r>
          </a:p>
          <a:p>
            <a:pPr lvl="1">
              <a:defRPr sz="1200">
                <a:latin typeface="Calibri"/>
              </a:defRPr>
            </a:pPr>
            <a:r>
              <a:t>Automated Allocation – Assign supervisors to groups using workload and expert matching.</a:t>
            </a:r>
          </a:p>
          <a:p>
            <a:pPr lvl="1">
              <a:defRPr sz="1200">
                <a:latin typeface="Calibri"/>
              </a:defRPr>
            </a:pPr>
            <a:r>
              <a:t>Broadcast Hub – Send instant notices, alerts, and notifications across active student portals.</a:t>
            </a:r>
          </a:p>
        </p:txBody>
      </p:sp>
    </p:spTree>
    <p:extLst>
      <p:ext uri="{BB962C8B-B14F-4D97-AF65-F5344CB8AC3E}">
        <p14:creationId xmlns:p14="http://schemas.microsoft.com/office/powerpoint/2010/main" val="3190099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04865-3D5D-6C40-4F5A-38EDE04F0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8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Disadvantages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4E71F-E645-AEF3-9BAF-1589E153AE5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project management with role-based access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guide allocation and project tracking.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topic similarity checking and plagiarism detection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transparency and reduced administrative workload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stable internet connectivity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setup and maintenance require technical expertise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AI-generated suggestions may require manual verification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757515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BFEE8-0E86-41AB-E046-2BBF42E8A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37095"/>
            <a:ext cx="7772400" cy="85725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35DE2-1964-0D85-4DAC-FF43CD3B509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1148780"/>
            <a:ext cx="7772400" cy="3429000"/>
          </a:xfrm>
        </p:spPr>
        <p:txBody>
          <a:bodyPr>
            <a:norm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Education Institutions: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submission, tracking, and evaluation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&amp; Development Labs: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research project management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Corporate Training &amp; Internships: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trainee projects and progress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Learning Platforms: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project collaboration and assessments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Administrative Use: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Analytics, reporting, and deadline monitoring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95923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EAE4A-38CB-4B82-3F1D-E88C5B673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95001"/>
            <a:ext cx="7772400" cy="85725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90C67-E78A-3DEB-79EF-F0377153D92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1286917"/>
            <a:ext cx="7670180" cy="3429000"/>
          </a:xfrm>
        </p:spPr>
        <p:txBody>
          <a:bodyPr>
            <a:norm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centralized platform for academic project management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guide allocation, project tracking, and evaluation processes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transparency through real-time notifications and collaboration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project originality using AI-based topic similarity checking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a scalable and secure system for future enhancements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209199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509F7-9A14-4650-0725-FC0D5D8D0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E0CBC-AF73-B298-644F-C24DC9A08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214" y="87567"/>
            <a:ext cx="7772400" cy="85725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A2A96-B4BB-94CE-B29D-68BBF164178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5214" y="1041590"/>
            <a:ext cx="7958923" cy="3429000"/>
          </a:xfrm>
        </p:spPr>
        <p:txBody>
          <a:bodyPr>
            <a:normAutofit/>
          </a:bodyPr>
          <a:lstStyle/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J. Wang, “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Web-based Innovation and Entrepreneurship Project Management System Design for College Students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 International Conference on Distributed Computing and Electrical Circuits and Electronics (ICDCECE)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IEEE, 2024, DOI: 10.1109/ICDSCNC62492.2024.10939838</a:t>
            </a:r>
          </a:p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R. Qi, Y. Qi, and H. Tang, “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Multi-Objective Integrated Management System of Engineering Project Based on Ant Colony Algorithm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 International Conference on Distributed Systems, Computer Networks and Cybersecurity (ICDSCNC)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2023, DOI: 10.1109/ICDCECE57866.2023.10150990.</a:t>
            </a:r>
          </a:p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[3] V. Arumugam, M. Shankar, and A. B. Aslam, “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Project Information Management System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2021 IEEE International Conference on Computer Communication and Informatics (ICCCI)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Coimbatore, India, 2021, DOI: 10.1109/ICCCI50826.2021.9402561.</a:t>
            </a:r>
          </a:p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S. I. Ismail, S. N. Sulaiman, and N. N. Ismail, “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Project Evaluation and Supervision System (</a:t>
            </a:r>
            <a:r>
              <a:rPr lang="en-IN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oPENs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2017 IEEE 9th International Conference on Engineering Education (ICEED)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Kanazawa, Japan, 2017, pp. 99–104, DOI: 10.1109/ICEED.2017.8251185.</a:t>
            </a:r>
          </a:p>
          <a:p>
            <a:pPr marL="0" indent="0" algn="just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83680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190F9-82B2-B85D-53ED-01F58C84F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11B67-A732-AAE8-0EE5-168D57A48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214" y="87567"/>
            <a:ext cx="7772400" cy="85725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02129-74AF-6E93-A7F4-47FA006C6D1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5215" y="804411"/>
            <a:ext cx="7772399" cy="4251522"/>
          </a:xfrm>
        </p:spPr>
        <p:txBody>
          <a:bodyPr>
            <a:noAutofit/>
          </a:bodyPr>
          <a:lstStyle/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Feng Wang, Ji Wang, Hao Cai, Gang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Yang,“</a:t>
            </a:r>
            <a:r>
              <a:rPr lang="en-IN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Application of Visual Engineering Project Management and Control System Based on Multimodal Information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,”2024 16th IEEE International Conference on Computational Intelligence and Communication Networks (CICN),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DOI: 10.1109/CICN.2024.188,IEEE, pp. 1136–1140, 2024.</a:t>
            </a:r>
          </a:p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Liubava Chernova, Serhii Chernov, Iryna Zhuravel, Lyudmila Chernova, Anatoliy Zubarev, Kateryna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Kolesnikova,“</a:t>
            </a:r>
            <a:r>
              <a:rPr lang="en-IN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Structural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 in the Methodology of Building an IT Project Model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,”2024 IEEE 4th International Conference on Smart Information Systems and Technologies (SIST),Astana, Kazakhstan, May 15–17, 024, DOI:10.1109/SIST61555.2024.10629514.</a:t>
            </a: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[7]A. A. Santoso, M. Y. S. A. Winata, M. L. A. Cahyadi, and I. R.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Murmanto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 System Development in Information System for Project Management in a Retail Company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in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2024 International Conference on Intelligent Cybernetics Technology &amp; Applications (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ICICyTA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pp. 401–406, IEEE, 2024. DOI: 10.1109/ICICYTA64807.2024.10912934.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A. Tripathi and K. T. V. Reddy, “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an Intelligent System for Predictive Analysis of Student Academic Performance using Machine Learning Techniques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in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2025 International Conference on Inventive Computation Technologies (ICICT)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IEEE, pp. 1110–1117, DOI: 10.1109/ICICT64420.2025.11005033, ISBN: 979-8-3315-1224-8.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8598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BE834-0EC0-CB80-0FFE-944757A6D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B626B-A57D-C6A9-ABF2-D94849E97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214" y="87567"/>
            <a:ext cx="7772400" cy="85725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CE5BB-5901-3241-4678-BB255B96B5E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5214" y="1041589"/>
            <a:ext cx="7772400" cy="3894683"/>
          </a:xfrm>
        </p:spPr>
        <p:txBody>
          <a:bodyPr>
            <a:normAutofit/>
          </a:bodyPr>
          <a:lstStyle/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R. Reshmi, et al.,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“Enhancing Academic Project Management with Project Allocation and Management System (PAMS),”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2025 International Conference on Computing and Intelligent Systems, 2025. </a:t>
            </a:r>
          </a:p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P. Yu,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“Design of a University Innovation and Entrepreneurship Project Management System Based on Web and Collaborative Filtering Algorithms,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in 2024 IEEE 2nd International Conference on Image Processing and Computer Applications (ICIPCA), Shenyang, China, June 28–30, 2024, DOI: 10.1109/ICIPCA61593.2024.10709251. </a:t>
            </a:r>
          </a:p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 N. I. S. I. Jailani, A. F. M. Ali, and S. Ngah,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“Final Year Project Allocation System Techniques: A Systematic Literature Review,”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2022 IEEE 12th Symposium on Computer Applications and Industrial Electronics (ISCAIE), 2022. </a:t>
            </a:r>
          </a:p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 M. R.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Davahli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Last State of Artificial Intelligence in Project Management,”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arXiv:2012.12262, 2020. </a:t>
            </a:r>
          </a:p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[13] H. K. Dam, T. Tran, J. Grundy, A. Ghose, and Y. Kamei,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“Towards Effective AI-Powered Agile Project Management,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arXiv:1812.10578, 2018.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9609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51162" y="1899088"/>
            <a:ext cx="7557596" cy="672662"/>
          </a:xfrm>
        </p:spPr>
        <p:txBody>
          <a:bodyPr/>
          <a:lstStyle/>
          <a:p>
            <a:pPr algn="ctr"/>
            <a:r>
              <a:rPr lang="en-IN" sz="8000" dirty="0">
                <a:latin typeface="Times New Roman" pitchFamily="18" charset="0"/>
                <a:cs typeface="Times New Roman" pitchFamily="18" charset="0"/>
              </a:rPr>
              <a:t>Thank You</a:t>
            </a:r>
            <a:endParaRPr lang="en-US" sz="7200" dirty="0"/>
          </a:p>
        </p:txBody>
      </p:sp>
      <p:sp>
        <p:nvSpPr>
          <p:cNvPr id="9" name="Google Shape;153;p15"/>
          <p:cNvSpPr txBox="1"/>
          <p:nvPr/>
        </p:nvSpPr>
        <p:spPr>
          <a:xfrm>
            <a:off x="185210" y="4585861"/>
            <a:ext cx="8689500" cy="290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900" b="1" dirty="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NBN Sinhgad School of Engineering</a:t>
            </a:r>
          </a:p>
          <a:p>
            <a:pPr lvl="0" algn="ctr"/>
            <a:r>
              <a:rPr lang="en-US" sz="900" b="1" dirty="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2025-2026 Sem VIII</a:t>
            </a:r>
          </a:p>
        </p:txBody>
      </p:sp>
      <p:sp>
        <p:nvSpPr>
          <p:cNvPr id="10" name="Google Shape;154;p15"/>
          <p:cNvSpPr txBox="1"/>
          <p:nvPr/>
        </p:nvSpPr>
        <p:spPr>
          <a:xfrm>
            <a:off x="238525" y="4679325"/>
            <a:ext cx="162030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Group 20</a:t>
            </a:r>
            <a:endParaRPr sz="1200" b="1" dirty="0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2996</TotalTime>
  <Words>1881</Words>
  <Application>Microsoft Office PowerPoint</Application>
  <PresentationFormat>On-screen Show (16:9)</PresentationFormat>
  <Paragraphs>180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Nunito</vt:lpstr>
      <vt:lpstr>Franklin Gothic Book</vt:lpstr>
      <vt:lpstr>Wingdings 2</vt:lpstr>
      <vt:lpstr>Calibri</vt:lpstr>
      <vt:lpstr>Times New Roman</vt:lpstr>
      <vt:lpstr>Perpetua</vt:lpstr>
      <vt:lpstr>Wingdings</vt:lpstr>
      <vt:lpstr>Equity</vt:lpstr>
      <vt:lpstr>A  Project  on "Smart Online Academic Project Management System with AI-Driven Supervision and Real-Time Collaboration"  </vt:lpstr>
      <vt:lpstr>Group Members</vt:lpstr>
      <vt:lpstr>Index</vt:lpstr>
      <vt:lpstr>INTRODUCTION </vt:lpstr>
      <vt:lpstr> MOTIVATION </vt:lpstr>
      <vt:lpstr>Literature Survey</vt:lpstr>
      <vt:lpstr>Literature Survey</vt:lpstr>
      <vt:lpstr>Literature Survey</vt:lpstr>
      <vt:lpstr>Literature Survey</vt:lpstr>
      <vt:lpstr>Literature Survey</vt:lpstr>
      <vt:lpstr>System Architecture</vt:lpstr>
      <vt:lpstr>Methodology</vt:lpstr>
      <vt:lpstr>Requirements</vt:lpstr>
      <vt:lpstr>Key Features </vt:lpstr>
      <vt:lpstr>IMPLEMENTATION AND RESULTS</vt:lpstr>
      <vt:lpstr>IMPLEMENTATION AND RESULTS</vt:lpstr>
      <vt:lpstr>Advantages and Disadvantages</vt:lpstr>
      <vt:lpstr>Application</vt:lpstr>
      <vt:lpstr>Conclusion</vt:lpstr>
      <vt:lpstr>References </vt:lpstr>
      <vt:lpstr>References </vt:lpstr>
      <vt:lpstr>References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Review Sem 1</dc:title>
  <dc:creator>Zeenat Khan</dc:creator>
  <cp:lastModifiedBy>Rajendra Patil</cp:lastModifiedBy>
  <cp:revision>81</cp:revision>
  <dcterms:modified xsi:type="dcterms:W3CDTF">2026-06-25T06:30:22Z</dcterms:modified>
</cp:coreProperties>
</file>