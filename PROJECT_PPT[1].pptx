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8" r:id="rId3"/>
    <p:sldId id="279" r:id="rId4"/>
    <p:sldId id="280" r:id="rId5"/>
    <p:sldId id="282" r:id="rId6"/>
    <p:sldId id="281" r:id="rId7"/>
    <p:sldId id="293" r:id="rId8"/>
    <p:sldId id="297" r:id="rId9"/>
    <p:sldId id="298" r:id="rId10"/>
    <p:sldId id="302" r:id="rId11"/>
    <p:sldId id="285" r:id="rId12"/>
    <p:sldId id="284" r:id="rId13"/>
    <p:sldId id="283" r:id="rId14"/>
    <p:sldId id="304" r:id="rId15"/>
    <p:sldId id="305" r:id="rId16"/>
    <p:sldId id="306" r:id="rId17"/>
    <p:sldId id="290" r:id="rId18"/>
    <p:sldId id="291" r:id="rId19"/>
    <p:sldId id="292" r:id="rId20"/>
    <p:sldId id="300" r:id="rId21"/>
    <p:sldId id="301" r:id="rId22"/>
    <p:sldId id="307" r:id="rId23"/>
    <p:sldId id="261" r:id="rId24"/>
  </p:sldIdLst>
  <p:sldSz cx="9144000" cy="5143500" type="screen16x9"/>
  <p:notesSz cx="6858000" cy="9144000"/>
  <p:embeddedFontLst>
    <p:embeddedFont>
      <p:font typeface="Franklin Gothic Book" panose="020B0503020102020204" pitchFamily="34" charset="0"/>
      <p:regular r:id="rId26"/>
      <p:italic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erpetua" panose="02020502060401020303" pitchFamily="18" charset="0"/>
      <p:regular r:id="rId32"/>
      <p:bold r:id="rId33"/>
      <p:italic r:id="rId34"/>
      <p:boldItalic r:id="rId35"/>
    </p:embeddedFont>
    <p:embeddedFont>
      <p:font typeface="Wingdings 2" panose="050201020105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34" Type="http://schemas.openxmlformats.org/officeDocument/2006/relationships/font" Target="fonts/font9.fntdata"/><Relationship Id="rId35" Type="http://schemas.openxmlformats.org/officeDocument/2006/relationships/font" Target="fonts/font10.fntdata"/><Relationship Id="rId36" Type="http://schemas.openxmlformats.org/officeDocument/2006/relationships/font" Target="fonts/font11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5673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c5397b1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c5397b1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706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c5397b13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c5397b13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38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7178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F2E0-CCC4-4E1E-9902-C3C36AB3FDA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fld id="{564CF2E0-CCC4-4E1E-9902-C3C36AB3FDA4}" type="datetimeFigureOut">
              <a:rPr lang="en-US" smtClean="0"/>
              <a:pPr algn="r" eaLnBrk="1" latinLnBrk="0" hangingPunct="1"/>
              <a:t>6/25/2026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704700" y="23104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/>
            <a:r>
              <a:rPr lang="en-GB" sz="2000" dirty="0"/>
              <a:t>Under Guidance of </a:t>
            </a:r>
            <a:r>
              <a:rPr lang="en-GB" sz="2000" dirty="0">
                <a:solidFill>
                  <a:schemeClr val="tx1"/>
                </a:solidFill>
              </a:rPr>
              <a:t>Prof. 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80348" y="973252"/>
            <a:ext cx="9005853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altLang="en-US" sz="18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br>
              <a:rPr altLang="en-US" sz="18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altLang="en-US" sz="18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  <a:br>
              <a:rPr altLang="en-US" sz="18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altLang="en-US" sz="18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on</a:t>
            </a:r>
            <a:br>
              <a:rPr altLang="en-US" dirty="0">
                <a:latin typeface="Times New Roman" pitchFamily="18" charset="0"/>
                <a:cs typeface="Times New Roman" pitchFamily="18" charset="0"/>
              </a:rPr>
            </a:br>
            <a:r>
              <a:rPr altLang="en-US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Online Academic Project Management System with AI-Driven Supervision and Real-Time Collaboration</a:t>
            </a:r>
            <a:r>
              <a:rPr lang="en-IN" altLang="en-US" sz="3200" dirty="0">
                <a:latin typeface="Times New Roman" panose="02020603050405020304" pitchFamily="18" charset="0"/>
                <a:cs typeface="Times New Roman" pitchFamily="18" charset="0"/>
              </a:rPr>
              <a:t>"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altLang="en-US" dirty="0">
                <a:latin typeface="Times New Roman" pitchFamily="18" charset="0"/>
                <a:cs typeface="Times New Roman" pitchFamily="18" charset="0"/>
              </a:rPr>
            </a:br>
            <a:endParaRPr dirty="0"/>
          </a:p>
        </p:txBody>
      </p:sp>
      <p:pic>
        <p:nvPicPr>
          <p:cNvPr id="131" name="Google Shape;13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238525" y="4624425"/>
            <a:ext cx="8689500" cy="21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53508" y="2776092"/>
            <a:ext cx="16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Manisha P.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>
            <a:spLocks noGrp="1"/>
          </p:cNvSpPr>
          <p:nvPr>
            <p:ph type="title"/>
          </p:nvPr>
        </p:nvSpPr>
        <p:spPr>
          <a:xfrm>
            <a:off x="680425" y="3717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Nunito"/>
                <a:ea typeface="Nunito"/>
                <a:cs typeface="Nunito"/>
                <a:sym typeface="Nunito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60" y="219774"/>
            <a:ext cx="895815" cy="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227250" y="4582525"/>
            <a:ext cx="86895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</a:t>
            </a:r>
            <a:r>
              <a:rPr lang="en-GB" sz="900" b="1" dirty="0" err="1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Sinhgad</a:t>
            </a: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School of Engineering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  <a:endParaRPr sz="9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622B-5108-0291-1E5B-7B4A5FF7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522" y="1694696"/>
            <a:ext cx="7505700" cy="2448000"/>
          </a:xfrm>
        </p:spPr>
        <p:txBody>
          <a:bodyPr/>
          <a:lstStyle/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Abhijeet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Indrjeet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Bhosle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Aniket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Vijay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Pratham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Prashant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Dhakate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040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Rajendra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Narendra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762A-751C-FE1A-ED0E-78E9BDEB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2" y="200025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CCE006-D12C-55DD-EC71-624109F55A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62013" y="946150"/>
            <a:ext cx="7772400" cy="40830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INTRODUCTION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MOTIVATION</a:t>
            </a:r>
          </a:p>
          <a:p>
            <a:pPr marL="356760" indent="-338400"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LITERATURE SURVEY</a:t>
            </a:r>
          </a:p>
          <a:p>
            <a:pPr marL="356760" indent="-338400"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SYSTEM ARCHITECTURE</a:t>
            </a:r>
          </a:p>
          <a:p>
            <a:pPr marL="356760" indent="-338400"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METHODOLOGY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</a:t>
            </a: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16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DejaVu Sans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</a:t>
            </a:r>
            <a:r>
              <a:rPr lang="en-IN" sz="16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ADVANTAGES AND DISADVANTAGES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APPLICATION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CONCLUSION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6760" indent="-338400">
              <a:lnSpc>
                <a:spcPct val="100000"/>
              </a:lnSpc>
              <a:spcBef>
                <a:spcPts val="496"/>
              </a:spcBef>
              <a:buClr>
                <a:srgbClr val="2CA1BE"/>
              </a:buClr>
              <a:buSzPct val="67000"/>
              <a:buFont typeface="Wingdings" panose="05000000000000000000" pitchFamily="2" charset="2"/>
              <a:buChar char="q"/>
              <a:tabLst>
                <a:tab pos="268560" algn="l"/>
                <a:tab pos="269280" algn="l"/>
              </a:tabLst>
            </a:pPr>
            <a:r>
              <a:rPr lang="en-IN" sz="1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REFERENCES</a:t>
            </a:r>
            <a:endParaRPr lang="en-IN" sz="16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8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E324-E1A7-5A71-DC40-0DC7850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91" y="114776"/>
            <a:ext cx="7772400" cy="1265276"/>
          </a:xfrm>
        </p:spPr>
        <p:txBody>
          <a:bodyPr>
            <a:normAutofit/>
          </a:bodyPr>
          <a:lstStyle/>
          <a:p>
            <a:pPr algn="ctr"/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INTRODUCTION</a:t>
            </a:r>
            <a:br>
              <a:rPr lang="en-IN" sz="40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2FBC3-A64B-EF10-19FE-873698CEC60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7604" y="984726"/>
            <a:ext cx="7772400" cy="3429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projects help students apply technical knowledge and develop practical skills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project management methods rely on manual processes, causing delays and communication gaps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project tracking, guide allocation, and collaboration are major challenges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SOAPMS provides a centralized platform for managing the complete project lifecycle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AI-based topic similarity checking, automated guide allocation, progress tracking, and real-time notifications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098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F652-F187-7E11-88D0-ED28530C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3" y="221241"/>
            <a:ext cx="7772400" cy="1127051"/>
          </a:xfrm>
        </p:spPr>
        <p:txBody>
          <a:bodyPr>
            <a:normAutofit fontScale="90000"/>
          </a:bodyPr>
          <a:lstStyle/>
          <a:p>
            <a:pPr algn="ctr"/>
            <a:br>
              <a:rPr lang="en-IN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MOTIVATION</a:t>
            </a:r>
            <a:br>
              <a:rPr lang="en-IN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844BB-A877-E56E-DF5A-F4358164D51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23626" y="1006908"/>
            <a:ext cx="7613337" cy="3429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with finding unique topics and managing their work effectively.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guide allocation and plagiarism checking increase faculty workload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monitoring for project progress and evaluations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lead to delays in feedback and approvals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intelligent platform with AI-based validation, automated allocation, and real-time tracking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451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78426"/>
          </a:xfrm>
        </p:spPr>
        <p:txBody>
          <a:bodyPr>
            <a:noAutofit/>
          </a:bodyPr>
          <a:lstStyle/>
          <a:p>
            <a:pPr algn="ctr"/>
            <a:r>
              <a:rPr lang="en-IN" sz="24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</a:t>
            </a:r>
            <a:r>
              <a:rPr lang="en-IN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iterature Survey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DDDB178-48CA-28C5-6F11-C0D47F29CA1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66397545"/>
              </p:ext>
            </p:extLst>
          </p:nvPr>
        </p:nvGraphicFramePr>
        <p:xfrm>
          <a:off x="624468" y="829757"/>
          <a:ext cx="7772400" cy="3796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879">
                  <a:extLst>
                    <a:ext uri="{9D8B030D-6E8A-4147-A177-3AD203B41FA5}">
                      <a16:colId xmlns:a16="http://schemas.microsoft.com/office/drawing/2014/main" val="892458207"/>
                    </a:ext>
                  </a:extLst>
                </a:gridCol>
                <a:gridCol w="2158152">
                  <a:extLst>
                    <a:ext uri="{9D8B030D-6E8A-4147-A177-3AD203B41FA5}">
                      <a16:colId xmlns:a16="http://schemas.microsoft.com/office/drawing/2014/main" val="1223880152"/>
                    </a:ext>
                  </a:extLst>
                </a:gridCol>
                <a:gridCol w="2474369">
                  <a:extLst>
                    <a:ext uri="{9D8B030D-6E8A-4147-A177-3AD203B41FA5}">
                      <a16:colId xmlns:a16="http://schemas.microsoft.com/office/drawing/2014/main" val="165927076"/>
                    </a:ext>
                  </a:extLst>
                </a:gridCol>
              </a:tblGrid>
              <a:tr h="38289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65006"/>
                  </a:ext>
                </a:extLst>
              </a:tr>
              <a:tr h="13595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Web-based Innovation and Entrepreneurship Project Management System Design for College Students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Wang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web-based system focusing on digital management and user-centric design for student innovation and entrepreneurship projects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algn="just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028054"/>
                  </a:ext>
                </a:extLst>
              </a:tr>
              <a:tr h="1435873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Analysis of Multi-Objective Integrated Management System of Engineering Project Based on Ant Colony Algorithm.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Qi, Y. Qi, H. Tang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Ant Colony Optimization for optimizing multiple objectives in engineering project management, improving decision-making and resource allocation.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20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31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5DFA-9793-F6F6-BDBD-A600624D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6381"/>
            <a:ext cx="7772400" cy="678426"/>
          </a:xfrm>
        </p:spPr>
        <p:txBody>
          <a:bodyPr>
            <a:no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</a:t>
            </a:r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iterature Survey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DDDB178-48CA-28C5-6F11-C0D47F29CA1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50386619"/>
              </p:ext>
            </p:extLst>
          </p:nvPr>
        </p:nvGraphicFramePr>
        <p:xfrm>
          <a:off x="788019" y="910590"/>
          <a:ext cx="7772400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1850">
                  <a:extLst>
                    <a:ext uri="{9D8B030D-6E8A-4147-A177-3AD203B41FA5}">
                      <a16:colId xmlns:a16="http://schemas.microsoft.com/office/drawing/2014/main" val="892458207"/>
                    </a:ext>
                  </a:extLst>
                </a:gridCol>
                <a:gridCol w="2321876">
                  <a:extLst>
                    <a:ext uri="{9D8B030D-6E8A-4147-A177-3AD203B41FA5}">
                      <a16:colId xmlns:a16="http://schemas.microsoft.com/office/drawing/2014/main" val="1223880152"/>
                    </a:ext>
                  </a:extLst>
                </a:gridCol>
                <a:gridCol w="2748674">
                  <a:extLst>
                    <a:ext uri="{9D8B030D-6E8A-4147-A177-3AD203B41FA5}">
                      <a16:colId xmlns:a16="http://schemas.microsoft.com/office/drawing/2014/main" val="165927076"/>
                    </a:ext>
                  </a:extLst>
                </a:gridCol>
              </a:tblGrid>
              <a:tr h="29720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65006"/>
                  </a:ext>
                </a:extLst>
              </a:tr>
              <a:tr h="891623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Project Information Management System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sv-SE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Arumugam, M. Shankar, A. B. Aslam (2021)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centralized system for managing academic project data, including assignment tracking, progress updates, and student-project mapping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90537"/>
                  </a:ext>
                </a:extLst>
              </a:tr>
              <a:tr h="891623"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Project Evaluation and Supervision System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algn="just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I. Ismail, S. N. Sulaiman, N. N. Ismail (2017)</a:t>
                      </a:r>
                      <a:endParaRPr lang="en-IN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an online platform for continuous evaluation and supervision of student academic projects with emphasis on remote monitoring.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78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94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7C3B-ADB7-9FD5-C5BD-972B10DF5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5D9C-C254-2D42-A979-0839D962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1"/>
            <a:ext cx="7772400" cy="678426"/>
          </a:xfrm>
        </p:spPr>
        <p:txBody>
          <a:bodyPr>
            <a:no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</a:t>
            </a:r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iterature Survey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ECF84E-F9B8-D14D-6282-3DF5CDC3AD7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44267532"/>
              </p:ext>
            </p:extLst>
          </p:nvPr>
        </p:nvGraphicFramePr>
        <p:xfrm>
          <a:off x="869795" y="1002030"/>
          <a:ext cx="7404409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919">
                  <a:extLst>
                    <a:ext uri="{9D8B030D-6E8A-4147-A177-3AD203B41FA5}">
                      <a16:colId xmlns:a16="http://schemas.microsoft.com/office/drawing/2014/main" val="892458207"/>
                    </a:ext>
                  </a:extLst>
                </a:gridCol>
                <a:gridCol w="2204623">
                  <a:extLst>
                    <a:ext uri="{9D8B030D-6E8A-4147-A177-3AD203B41FA5}">
                      <a16:colId xmlns:a16="http://schemas.microsoft.com/office/drawing/2014/main" val="1223880152"/>
                    </a:ext>
                  </a:extLst>
                </a:gridCol>
                <a:gridCol w="2609867">
                  <a:extLst>
                    <a:ext uri="{9D8B030D-6E8A-4147-A177-3AD203B41FA5}">
                      <a16:colId xmlns:a16="http://schemas.microsoft.com/office/drawing/2014/main" val="165927076"/>
                    </a:ext>
                  </a:extLst>
                </a:gridCol>
              </a:tblGrid>
              <a:tr h="29720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65006"/>
                  </a:ext>
                </a:extLst>
              </a:tr>
              <a:tr h="891623"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Research and Application of Visual Engineering Project Management and Control System Based on Multimodal Information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Feng Wang, Ji Wang, Hao Cai, Gang Yang (2024)</a:t>
                      </a:r>
                      <a:endParaRPr lang="en-IN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Introduces a visual, multimodal information-driven project control system for engineering management to enhance tracking and visualization.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90537"/>
                  </a:ext>
                </a:extLst>
              </a:tr>
              <a:tr h="891623"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Structural Analysis in the Methodology of Building an IT Project Model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Liubava Chernova, Serhii Chernov, Iryna Zhuravel, Lyudmila Chernova, Anatoliy Zubarev, </a:t>
                      </a:r>
                      <a:r>
                        <a:rPr kumimoji="0" lang="en-US" sz="140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Kateryna Kolesnikova(2024)</a:t>
                      </a:r>
                      <a:endParaRPr lang="en-IN" sz="1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Discusses methodological structural analysis to build robust IT project models using formal and systematic approaches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78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5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B7A7-41AA-E0A7-29F7-FE3B0CDD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8209-11BC-4EA7-1989-3C4B23316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</a:t>
            </a:r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iterature Survey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DC43F43-0886-DDEF-A541-916C199A5FB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680664670"/>
              </p:ext>
            </p:extLst>
          </p:nvPr>
        </p:nvGraphicFramePr>
        <p:xfrm>
          <a:off x="776867" y="899273"/>
          <a:ext cx="7590265" cy="3344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223">
                  <a:extLst>
                    <a:ext uri="{9D8B030D-6E8A-4147-A177-3AD203B41FA5}">
                      <a16:colId xmlns:a16="http://schemas.microsoft.com/office/drawing/2014/main" val="892458207"/>
                    </a:ext>
                  </a:extLst>
                </a:gridCol>
                <a:gridCol w="2280889">
                  <a:extLst>
                    <a:ext uri="{9D8B030D-6E8A-4147-A177-3AD203B41FA5}">
                      <a16:colId xmlns:a16="http://schemas.microsoft.com/office/drawing/2014/main" val="1223880152"/>
                    </a:ext>
                  </a:extLst>
                </a:gridCol>
                <a:gridCol w="2700153">
                  <a:extLst>
                    <a:ext uri="{9D8B030D-6E8A-4147-A177-3AD203B41FA5}">
                      <a16:colId xmlns:a16="http://schemas.microsoft.com/office/drawing/2014/main" val="165927076"/>
                    </a:ext>
                  </a:extLst>
                </a:gridCol>
              </a:tblGrid>
              <a:tr h="321843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65006"/>
                  </a:ext>
                </a:extLst>
              </a:tr>
              <a:tr h="1279044"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Approval System Development in Information System for Project Management in a Retail Company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A. Santoso, M. Y. S A. Winata, M. L. A. Cahyadi, I. R. </a:t>
                      </a:r>
                      <a:r>
                        <a:rPr kumimoji="0" lang="en-IN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Murmanto</a:t>
                      </a:r>
                      <a:r>
                        <a:rPr kumimoji="0" lang="en-IN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Explains the development of an approval workflow integrated into a retail project management system, improving efficiency and traceability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90537"/>
                  </a:ext>
                </a:extLst>
              </a:tr>
              <a:tr h="1638073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Development of an Intelligent System for Predictive Analysis of Student Academic Performance using Machine Learning Techniques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Tripathi, K. T. V. Reddy (2025)</a:t>
                      </a:r>
                      <a:endParaRPr lang="en-IN" sz="1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Focuses on using ML algorithms to predict student performance metrics, enabling proactive academic intervention and planning.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78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02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F1D8E-00B6-80D4-A77D-41069B820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F231-2228-C731-C9A4-FD1A19BE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89030"/>
            <a:ext cx="7772400" cy="678426"/>
          </a:xfrm>
        </p:spPr>
        <p:txBody>
          <a:bodyPr>
            <a:no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</a:t>
            </a:r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iterature Survey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27C742E-8E67-F88F-6AD7-4FD25EEB480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51637253"/>
              </p:ext>
            </p:extLst>
          </p:nvPr>
        </p:nvGraphicFramePr>
        <p:xfrm>
          <a:off x="776867" y="899273"/>
          <a:ext cx="7590265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223">
                  <a:extLst>
                    <a:ext uri="{9D8B030D-6E8A-4147-A177-3AD203B41FA5}">
                      <a16:colId xmlns:a16="http://schemas.microsoft.com/office/drawing/2014/main" val="892458207"/>
                    </a:ext>
                  </a:extLst>
                </a:gridCol>
                <a:gridCol w="2280889">
                  <a:extLst>
                    <a:ext uri="{9D8B030D-6E8A-4147-A177-3AD203B41FA5}">
                      <a16:colId xmlns:a16="http://schemas.microsoft.com/office/drawing/2014/main" val="1223880152"/>
                    </a:ext>
                  </a:extLst>
                </a:gridCol>
                <a:gridCol w="2700153">
                  <a:extLst>
                    <a:ext uri="{9D8B030D-6E8A-4147-A177-3AD203B41FA5}">
                      <a16:colId xmlns:a16="http://schemas.microsoft.com/office/drawing/2014/main" val="165927076"/>
                    </a:ext>
                  </a:extLst>
                </a:gridCol>
              </a:tblGrid>
              <a:tr h="24217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765006"/>
                  </a:ext>
                </a:extLst>
              </a:tr>
              <a:tr h="1069956"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Academic Project Management with Project Allocation and Management System (PAMS)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Reshmi et al., 2025</a:t>
                      </a:r>
                      <a:endParaRPr kumimoji="0" lang="en-IN" sz="1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web-based PAMS with role-based access for students, guides, and coordinators. Implemented project allocation, progress tracking, NLP-based project similarity detection, and centralized project management.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9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04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0718-D63E-4878-3A25-59B6F077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54511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943736" y="760730"/>
            <a:ext cx="725652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latin typeface="Calibri"/>
              </a:defRPr>
            </a:pPr>
            <a:r>
              <a:t>Three-Tier Architecture Model:</a:t>
            </a:r>
          </a:p>
          <a:p>
            <a:pPr lvl="1">
              <a:defRPr sz="1400">
                <a:latin typeface="Calibri"/>
              </a:defRPr>
            </a:pPr>
            <a:r>
              <a:t>Client Tier (Frontend) – React.js SPA, Tailwind CSS for responsive layouts, Socket.IO-client for real-time channels.</a:t>
            </a:r>
          </a:p>
          <a:p>
            <a:pPr lvl="1">
              <a:defRPr sz="1400">
                <a:latin typeface="Calibri"/>
              </a:defRPr>
            </a:pPr>
            <a:r>
              <a:t>Application Tier (Backend) – Node.js &amp; Express.js server, JWT-based security middleware, and Socket.IO server.</a:t>
            </a:r>
          </a:p>
          <a:p>
            <a:pPr lvl="1">
              <a:defRPr sz="1400">
                <a:latin typeface="Calibri"/>
              </a:defRPr>
            </a:pPr>
            <a:r>
              <a:t>Database Tier (Storage) – MongoDB (NoSQL) database storing user schemas, group details, evaluations, and logs.</a:t>
            </a:r>
          </a:p>
          <a:p>
            <a:pPr lvl="1">
              <a:defRPr sz="1400">
                <a:latin typeface="Calibri"/>
              </a:defRPr>
            </a:pPr>
            <a:r>
              <a:t>AI/NLP Services Layer – TF-IDF Vectorizer &amp; Cosine Similarity module for proposal topic similarity check.</a:t>
            </a:r>
          </a:p>
          <a:p>
            <a:pPr lvl="1">
              <a:defRPr sz="1400">
                <a:latin typeface="Calibri"/>
              </a:defRPr>
            </a:pPr>
            <a:r>
              <a:t>Real-Time Message Engine – WebSockets (Socket.IO) facilitating instant alerts between coordinators, guides, and students.</a:t>
            </a:r>
          </a:p>
        </p:txBody>
      </p:sp>
    </p:spTree>
    <p:extLst>
      <p:ext uri="{BB962C8B-B14F-4D97-AF65-F5344CB8AC3E}">
        <p14:creationId xmlns:p14="http://schemas.microsoft.com/office/powerpoint/2010/main" val="126743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45" y="157634"/>
            <a:ext cx="7772400" cy="664420"/>
          </a:xfrm>
        </p:spPr>
        <p:txBody>
          <a:bodyPr>
            <a:normAutofit/>
          </a:bodyPr>
          <a:lstStyle/>
          <a:p>
            <a:pPr algn="ctr"/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Methodology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E71F-E645-AEF3-9BAF-1589E153AE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5652" y="927145"/>
            <a:ext cx="8992696" cy="4216355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stakeholders, functional and non-functional needs.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 architecture, ER diagrams, workflows, and role-based dashboards.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Selection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Choose frontend, backend, database, AI modules, and real-time tools.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proposal submission, group formation, weekly reports, evaluations, and dashboards.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Incorporate plagiarism checks, topic clash detection, auto-feedback, and alerts.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Conduct unit, integration, performance, and security testing.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Maintenance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Deploy on cloud/institutional server, set up backups, monitoring, and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208354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8D1C-0FAD-17AD-31A2-D910AA19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Requirements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850F-8DC5-8CDB-408B-9B58C1CE90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8712" y="1137920"/>
            <a:ext cx="8206576" cy="36526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</a:t>
            </a:r>
          </a:p>
          <a:p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 or later / macOS / Linux</a:t>
            </a:r>
          </a:p>
          <a:p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Chrome, Mozilla Firefox, or Microsoft Edge</a:t>
            </a:r>
          </a:p>
          <a:p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Node.js, Git</a:t>
            </a:r>
          </a:p>
          <a:p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Hardware</a:t>
            </a:r>
            <a:r>
              <a:rPr lang="en-US" sz="19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:</a:t>
            </a:r>
            <a:endParaRPr lang="en-IN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Dual-core CPU or higher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GB or higher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GB free space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Broadband connection (for real-time collaboration and notifications)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61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D0E3-C132-2829-A081-4E3D7AEB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A5B-62EC-EB63-047A-F491850D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0" y="-15611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 Features 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EEE5-7E79-8ACC-72C1-18779F5E37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8712" y="1004105"/>
            <a:ext cx="8206576" cy="365261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JWT-based login with role-based access. 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Create, join, and manage student project groups.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Proposal Submission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Submit and track project proposals online.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 similar project topics to reduce duplication.</a:t>
            </a:r>
            <a:endParaRPr lang="en-IN" sz="19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Guide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Assign guides based on expertise and workload.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Feedback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Guides can evaluate projects and provide feedback.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Instant updates using Socket.IO .</a:t>
            </a:r>
          </a:p>
          <a:p>
            <a:pPr algn="just">
              <a:lnSpc>
                <a:spcPct val="11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Coordinator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projects, guides, and overall progress.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4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0968-5F6C-FF68-492C-E3D52CA8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08D772-A8C3-9D96-7846-4638E0A306D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007657" y="2921173"/>
            <a:ext cx="3749675" cy="209747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113C28-B132-B96C-E90F-E5D66F62F494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07657" y="684087"/>
            <a:ext cx="3749675" cy="21062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799997-5018-5AEF-AE43-288A06BAEF95}"/>
              </a:ext>
            </a:extLst>
          </p:cNvPr>
          <p:cNvSpPr txBox="1"/>
          <p:nvPr/>
        </p:nvSpPr>
        <p:spPr>
          <a:xfrm>
            <a:off x="386576" y="889440"/>
            <a:ext cx="3932664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/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MERN Stack (MongoDB, Express.js, React.js, Node.js)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JWT Authentication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 for Students, Guides, and Coordinators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Socket.IO for real-time notifications </a:t>
            </a: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 for proposal validation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2C30B-F308-74CA-097B-3F007006B3D6}"/>
              </a:ext>
            </a:extLst>
          </p:cNvPr>
          <p:cNvSpPr/>
          <p:nvPr/>
        </p:nvSpPr>
        <p:spPr>
          <a:xfrm>
            <a:off x="4824761" y="587298"/>
            <a:ext cx="4096215" cy="4497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840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BA46F6-F388-4003-4076-A276979CA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161" y="2968910"/>
            <a:ext cx="3749675" cy="17201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3752DC-024D-20AB-9A8E-5FF65707534B}"/>
              </a:ext>
            </a:extLst>
          </p:cNvPr>
          <p:cNvSpPr txBox="1"/>
          <p:nvPr/>
        </p:nvSpPr>
        <p:spPr>
          <a:xfrm>
            <a:off x="229917" y="610674"/>
            <a:ext cx="27510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Dashboards:</a:t>
            </a: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4E1CD-5C98-0B2D-B590-65D36FB5501F}"/>
              </a:ext>
            </a:extLst>
          </p:cNvPr>
          <p:cNvSpPr/>
          <p:nvPr/>
        </p:nvSpPr>
        <p:spPr>
          <a:xfrm>
            <a:off x="229917" y="1018478"/>
            <a:ext cx="8684164" cy="3821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E1D95A2-A3A6-BAAC-192B-2DDDAEBD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-173163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RESULTS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333996" y="1133613"/>
            <a:ext cx="3749675" cy="1720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Student &amp; Volunteer Dashboard:</a:t>
            </a:r>
          </a:p>
          <a:p>
            <a:pPr lvl="1">
              <a:defRPr sz="1200">
                <a:latin typeface="Calibri"/>
              </a:defRPr>
            </a:pPr>
            <a:r>
              <a:t>Group Management – Create student groups, invite peers, and manage project member status.</a:t>
            </a:r>
          </a:p>
          <a:p>
            <a:pPr lvl="1">
              <a:defRPr sz="1200">
                <a:latin typeface="Calibri"/>
              </a:defRPr>
            </a:pPr>
            <a:r>
              <a:t>Proposal Submission – Submit final year project proposals directly to the coordinator.</a:t>
            </a:r>
          </a:p>
          <a:p>
            <a:pPr lvl="1">
              <a:defRPr sz="1200">
                <a:latin typeface="Calibri"/>
              </a:defRPr>
            </a:pPr>
            <a:r>
              <a:t>Progress Tracking – View scheduled milestones, submit weekly status, and read supervisor comments.</a:t>
            </a:r>
          </a:p>
          <a:p>
            <a:pPr lvl="1">
              <a:defRPr sz="1200">
                <a:latin typeface="Calibri"/>
              </a:defRPr>
            </a:pPr>
            <a:r>
              <a:t>Digital Dashboard – Receive real-time announcements and download certified evaluation sheets.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0331" y="1142987"/>
            <a:ext cx="3749675" cy="171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latin typeface="Calibri"/>
              </a:defRPr>
            </a:pPr>
            <a:r>
              <a:t>Guide &amp; Coordinator Dashboard:</a:t>
            </a:r>
          </a:p>
          <a:p>
            <a:pPr lvl="1">
              <a:defRPr sz="1200">
                <a:latin typeface="Calibri"/>
              </a:defRPr>
            </a:pPr>
            <a:r>
              <a:t>Proposal Appraisals – Coordinators review details and approve/reject project submissions.</a:t>
            </a:r>
          </a:p>
          <a:p>
            <a:pPr lvl="1">
              <a:defRPr sz="1200">
                <a:latin typeface="Calibri"/>
              </a:defRPr>
            </a:pPr>
            <a:r>
              <a:t>Milestone Evaluation – Guides score groups, post feedback reports, and review logs.</a:t>
            </a:r>
          </a:p>
          <a:p>
            <a:pPr lvl="1">
              <a:defRPr sz="1200">
                <a:latin typeface="Calibri"/>
              </a:defRPr>
            </a:pPr>
            <a:r>
              <a:t>Automated Allocation – Assign supervisors to groups using workload and expert matching.</a:t>
            </a:r>
          </a:p>
          <a:p>
            <a:pPr lvl="1">
              <a:defRPr sz="1200">
                <a:latin typeface="Calibri"/>
              </a:defRPr>
            </a:pPr>
            <a:r>
              <a:t>Broadcast Hub – Send instant notices, alerts, and notifications across active student portals.</a:t>
            </a:r>
          </a:p>
        </p:txBody>
      </p:sp>
    </p:spTree>
    <p:extLst>
      <p:ext uri="{BB962C8B-B14F-4D97-AF65-F5344CB8AC3E}">
        <p14:creationId xmlns:p14="http://schemas.microsoft.com/office/powerpoint/2010/main" val="319009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865-3D5D-6C40-4F5A-38EDE04F0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E71F-E645-AEF3-9BAF-1589E153AE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project management with role-based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 and project tracking.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topic similarity checking and plagiarism detection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reduced administrative workload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connectivity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 technical expertise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suggestions may require manual verification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751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FEE8-0E86-41AB-E046-2BBF42E8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7095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5DE2-1964-0D85-4DAC-FF43CD3B50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148780"/>
            <a:ext cx="7772400" cy="34290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Education Institutions: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submission, tracking, and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Labs: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research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Training &amp; Internships: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trainee projects and progress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 Platforms: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project collaboration and assessments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Analytics, reporting, and deadline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9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AE4A-38CB-4B82-3F1D-E88C5B6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5001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90C67-E78A-3DEB-79EF-F0377153D9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286917"/>
            <a:ext cx="7670180" cy="3429000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centralized platform for academic 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guide allocation, project tracking, and evaluation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 through real-time notifications and collaboration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project originality using AI-based topic similarity checking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and secure system for future enhancements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091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509F7-9A14-4650-0725-FC0D5D8D0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E0CBC-AF73-B298-644F-C24DC9A0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A2A96-B4BB-94CE-B29D-68BBF164178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90"/>
            <a:ext cx="7958923" cy="3429000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Wang,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Innovation and Entrepreneurship Project Management System Design for College Students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International Conference on Distributed Computing and Electrical Circuits and Electronics (ICDCECE)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2024, DOI: 10.1109/ICDSCNC62492.2024.10939838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Qi, Y. Qi, and H. Tang,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Multi-Objective Integrated Management System of Engineering Project Based on Ant Colony Algorithm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International Conference on Distributed Systems, Computer Networks and Cybersecurity (ICDSCNC)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2023, DOI: 10.1109/ICDCECE57866.2023.10150990.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[3] V. Arumugam, M. Shankar, and A. B. Aslam,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Project Information Management System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IEEE International Conference on Computer Communication and Informatics (ICCCI)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Coimbatore, India, 2021, DOI: 10.1109/ICCCI50826.2021.9402561.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I. Ismail, S. N. Sulaiman, and N. N. Ismail,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Project Evaluation and Supervision System (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 IEEE 9th International Conference on Engineering Education (ICEED)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Kanazawa, Japan, 2017, pp. 99–104, DOI: 10.1109/ICEED.2017.8251185.</a:t>
            </a: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36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190F9-82B2-B85D-53ED-01F58C84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1B67-A732-AAE8-0EE5-168D57A4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02129-74AF-6E93-A7F4-47FA006C6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5" y="804411"/>
            <a:ext cx="7772399" cy="4251522"/>
          </a:xfrm>
        </p:spPr>
        <p:txBody>
          <a:bodyPr>
            <a:no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Feng Wang, Ji Wang, Hao Cai, Gang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Application of Visual Engineering Project Management and Control System Based on Multimodal Information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16th IEEE International Conference on Computational Intelligence and Communication Networks (CICN),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 10.1109/CICN.2024.188,IEEE, pp. 1136–1140, 2024.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Liubava Chernova, Serhii Chernov, Iryna Zhuravel, Lyudmila Chernova, Anatoliy Zubarev, Kateryna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Kolesnikova,“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in the Methodology of Building an IT Project Model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,”2024 IEEE 4th International Conference on Smart Information Systems and Technologies (SIST),Astana, Kazakhstan, May 15–17, 024, DOI:10.1109/SIST61555.2024.10629514.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A. Santoso, M. Y. S. A. Winata, M. L. A. Cahyadi, and I. R.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Murmanto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System Development in Information System for Project Management in a Retail Company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2024 International Conference on Intelligent Cybernetics Technology &amp; Applications 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ICICyTA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401–406, IEEE, 2024. DOI: 10.1109/ICICYTA64807.2024.10912934.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A. Tripathi and K. T. V. Reddy, “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an Intelligent System for Predictive Analysis of Student Academic Performance using Machine Learning Techniques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2025 International Conference on Inventive Computation Technologies (ICICT)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pp. 1110–1117, DOI: 10.1109/ICICT64420.2025.11005033, ISBN: 979-8-3315-1224-8.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859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E834-0EC0-CB80-0FFE-944757A6D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626B-A57D-C6A9-ABF2-D94849E97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14" y="87567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CE5BB-5901-3241-4678-BB255B96B5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5214" y="1041589"/>
            <a:ext cx="7772400" cy="3894683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R. Reshmi, et al.,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“Enhancing Academic Project Management with Project Allocation and Management System (PAMS),”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2025 International Conference on Computing and Intelligent Systems, 2025.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P. Yu,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“Design of a University Innovation and Entrepreneurship Project Management System Based on Web and Collaborative Filtering Algorithms,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2024 IEEE 2nd International Conference on Image Processing and Computer Applications (ICIPCA), Shenyang, China, June 28–30, 2024, DOI: 10.1109/ICIPCA61593.2024.10709251.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N. I. S. I. Jailani, A. F. M. Ali, and S. Ngah,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“Final Year Project Allocation System Techniques: A Systematic Literature Review,”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IEEE 12th Symposium on Computer Applications and Industrial Electronics (ISCAIE), 2022.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M.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Davahli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State of Artificial Intelligence in Project Management,”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arXiv:2012.12262, 2020. 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H. K. Dam, T. Tran, J. Grundy, A. Ghose, and Y. Kamei,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“Towards Effective AI-Powered Agile Project Management,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arXiv:1812.10578, 2018.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0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51162" y="1899088"/>
            <a:ext cx="7557596" cy="672662"/>
          </a:xfrm>
        </p:spPr>
        <p:txBody>
          <a:bodyPr/>
          <a:lstStyle/>
          <a:p>
            <a:pPr algn="ctr"/>
            <a:r>
              <a:rPr lang="en-IN" sz="8000" dirty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7200" dirty="0"/>
          </a:p>
        </p:txBody>
      </p:sp>
      <p:sp>
        <p:nvSpPr>
          <p:cNvPr id="9" name="Google Shape;153;p15"/>
          <p:cNvSpPr txBox="1"/>
          <p:nvPr/>
        </p:nvSpPr>
        <p:spPr>
          <a:xfrm>
            <a:off x="185210" y="4585861"/>
            <a:ext cx="8689500" cy="29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NBN Sinhgad School of Engineering</a:t>
            </a:r>
          </a:p>
          <a:p>
            <a:pPr lvl="0" algn="ctr"/>
            <a:r>
              <a:rPr lang="en-US" sz="9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2025-2026 Sem VIII</a:t>
            </a:r>
          </a:p>
        </p:txBody>
      </p:sp>
      <p:sp>
        <p:nvSpPr>
          <p:cNvPr id="10" name="Google Shape;154;p15"/>
          <p:cNvSpPr txBox="1"/>
          <p:nvPr/>
        </p:nvSpPr>
        <p:spPr>
          <a:xfrm>
            <a:off x="238525" y="4679325"/>
            <a:ext cx="1620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Group 20</a:t>
            </a:r>
            <a:endParaRPr sz="1200" b="1" dirty="0"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2996</TotalTime>
  <Words>1881</Words>
  <Application>Microsoft Office PowerPoint</Application>
  <PresentationFormat>On-screen Show (16:9)</PresentationFormat>
  <Paragraphs>180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Nunito</vt:lpstr>
      <vt:lpstr>Franklin Gothic Book</vt:lpstr>
      <vt:lpstr>Wingdings 2</vt:lpstr>
      <vt:lpstr>Calibri</vt:lpstr>
      <vt:lpstr>Times New Roman</vt:lpstr>
      <vt:lpstr>Perpetua</vt:lpstr>
      <vt:lpstr>Wingdings</vt:lpstr>
      <vt:lpstr>Equity</vt:lpstr>
      <vt:lpstr>A  Project  on "Smart Online Academic Project Management System with AI-Driven Supervision and Real-Time Collaboration"  </vt:lpstr>
      <vt:lpstr>Group Members</vt:lpstr>
      <vt:lpstr>Index</vt:lpstr>
      <vt:lpstr>INTRODUCTION </vt:lpstr>
      <vt:lpstr> MOTIVATION </vt:lpstr>
      <vt:lpstr>Literature Survey</vt:lpstr>
      <vt:lpstr>Literature Survey</vt:lpstr>
      <vt:lpstr>Literature Survey</vt:lpstr>
      <vt:lpstr>Literature Survey</vt:lpstr>
      <vt:lpstr>Literature Survey</vt:lpstr>
      <vt:lpstr>System Architecture</vt:lpstr>
      <vt:lpstr>Methodology</vt:lpstr>
      <vt:lpstr>Requirements</vt:lpstr>
      <vt:lpstr>Key Features </vt:lpstr>
      <vt:lpstr>IMPLEMENTATION AND RESULTS</vt:lpstr>
      <vt:lpstr>IMPLEMENTATION AND RESULTS</vt:lpstr>
      <vt:lpstr>Advantages and Disadvantages</vt:lpstr>
      <vt:lpstr>Application</vt:lpstr>
      <vt:lpstr>Conclusion</vt:lpstr>
      <vt:lpstr>References 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Review Sem 1</dc:title>
  <dc:creator>Zeenat Khan</dc:creator>
  <cp:lastModifiedBy>Rajendra Patil</cp:lastModifiedBy>
  <cp:revision>81</cp:revision>
  <dcterms:modified xsi:type="dcterms:W3CDTF">2026-06-25T06:30:22Z</dcterms:modified>
</cp:coreProperties>
</file>